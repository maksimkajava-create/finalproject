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371600"/>
            <a:ext cx="94457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1737360"/>
            <a:ext cx="944575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508760" y="148132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1640" y="148132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74520" y="148132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48840" y="1371600"/>
            <a:ext cx="8531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terminal - user@ai-talent-hub: ~/mfdp/hw3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20240"/>
            <a:ext cx="8714232" cy="20287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22D3EE"/>
                </a:solidFill>
                <a:latin typeface="Consolas"/>
              </a:defRPr>
            </a:pPr>
            <a:r>
              <a:rPr dirty="0" err="1"/>
              <a:t>user@ai-talent-hub</a:t>
            </a:r>
            <a:r>
              <a:rPr dirty="0"/>
              <a:t>:~$ ./</a:t>
            </a:r>
            <a:r>
              <a:rPr dirty="0" err="1"/>
              <a:t>initialize_strategy</a:t>
            </a:r>
            <a:r>
              <a:rPr dirty="0"/>
              <a:t> --verbose</a:t>
            </a:r>
          </a:p>
          <a:p>
            <a:pPr>
              <a:spcBef>
                <a:spcPts val="500"/>
              </a:spcBef>
              <a:defRPr sz="1100">
                <a:solidFill>
                  <a:srgbClr val="34D399"/>
                </a:solidFill>
                <a:latin typeface="Consolas"/>
              </a:defRPr>
            </a:pPr>
            <a:r>
              <a:rPr dirty="0"/>
              <a:t>[OK] Loading ML demand forecasting engine...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rPr dirty="0"/>
              <a:t>[OK] Initializing model parameters: </a:t>
            </a:r>
            <a:r>
              <a:rPr dirty="0" err="1"/>
              <a:t>CatBoost</a:t>
            </a:r>
            <a:r>
              <a:rPr dirty="0"/>
              <a:t> GBDT (tau=0.75)</a:t>
            </a:r>
          </a:p>
          <a:p>
            <a:pPr>
              <a:spcBef>
                <a:spcPts val="2500"/>
              </a:spcBef>
              <a:defRPr sz="3600" b="1">
                <a:solidFill>
                  <a:srgbClr val="F8FAFC"/>
                </a:solidFill>
                <a:latin typeface="Consolas"/>
              </a:defRPr>
            </a:pPr>
            <a:r>
              <a:rPr dirty="0"/>
              <a:t>ML-ПРОГНОЗ СПРОСА В КАРМАНЕ</a:t>
            </a:r>
          </a:p>
          <a:p>
            <a:pPr>
              <a:spcBef>
                <a:spcPts val="1000"/>
              </a:spcBef>
              <a:defRPr sz="1800">
                <a:solidFill>
                  <a:srgbClr val="22D3EE"/>
                </a:solidFill>
                <a:latin typeface="Segoe UI"/>
              </a:defRPr>
            </a:pPr>
            <a:r>
              <a:rPr lang="ru-RU" sz="1600" dirty="0"/>
              <a:t>Стратегия и бенчмаркинг Telegram-бота для автоматизации закупок</a:t>
            </a:r>
            <a:br>
              <a:rPr lang="ru-RU" sz="1600" dirty="0"/>
            </a:br>
            <a:r>
              <a:rPr lang="ru-RU" sz="1050" dirty="0" err="1">
                <a:solidFill>
                  <a:srgbClr val="94A3B8"/>
                </a:solidFill>
                <a:latin typeface="Consolas"/>
              </a:rPr>
              <a:t>Категорийный</a:t>
            </a:r>
            <a:r>
              <a:rPr lang="ru-RU" sz="1050" dirty="0">
                <a:solidFill>
                  <a:srgbClr val="94A3B8"/>
                </a:solidFill>
                <a:latin typeface="Consolas"/>
              </a:rPr>
              <a:t> менеджер • База: ДЗ №1 и ДЗ №2 • Курс: MFDP (AI </a:t>
            </a:r>
            <a:r>
              <a:rPr lang="ru-RU" sz="1050" dirty="0" err="1">
                <a:solidFill>
                  <a:srgbClr val="94A3B8"/>
                </a:solidFill>
                <a:latin typeface="Consolas"/>
              </a:rPr>
              <a:t>Talent</a:t>
            </a:r>
            <a:r>
              <a:rPr lang="ru-RU" sz="1050" dirty="0">
                <a:solidFill>
                  <a:srgbClr val="94A3B8"/>
                </a:solidFill>
                <a:latin typeface="Consolas"/>
              </a:rPr>
              <a:t> </a:t>
            </a:r>
            <a:r>
              <a:rPr lang="ru-RU" sz="1050" dirty="0" err="1">
                <a:solidFill>
                  <a:srgbClr val="94A3B8"/>
                </a:solidFill>
                <a:latin typeface="Consolas"/>
              </a:rPr>
              <a:t>Hub</a:t>
            </a:r>
            <a:r>
              <a:rPr lang="ru-RU" sz="1050" dirty="0">
                <a:solidFill>
                  <a:srgbClr val="94A3B8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cat excel_traps.txt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Категорийный менеджер в ловушке Excel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120640" cy="256032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target_audience_and_problems.log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572000" cy="1472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rPr sz="1200" dirty="0"/>
              <a:t>[ЦЕЛЕВАЯ АУДИТОРИЯ]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Категорийные</a:t>
            </a:r>
            <a:r>
              <a:rPr dirty="0"/>
              <a:t> </a:t>
            </a:r>
            <a:r>
              <a:rPr dirty="0" err="1"/>
              <a:t>менеджеры</a:t>
            </a:r>
            <a:r>
              <a:rPr dirty="0"/>
              <a:t> и </a:t>
            </a:r>
            <a:r>
              <a:rPr dirty="0" err="1"/>
              <a:t>планировщики</a:t>
            </a:r>
            <a:r>
              <a:rPr dirty="0"/>
              <a:t> </a:t>
            </a:r>
            <a:r>
              <a:rPr dirty="0" err="1"/>
              <a:t>закупок</a:t>
            </a:r>
            <a:r>
              <a:rPr dirty="0"/>
              <a:t> </a:t>
            </a:r>
            <a:r>
              <a:rPr dirty="0" err="1"/>
              <a:t>малого</a:t>
            </a:r>
            <a:r>
              <a:rPr dirty="0"/>
              <a:t> и </a:t>
            </a:r>
            <a:r>
              <a:rPr dirty="0" err="1"/>
              <a:t>среднего</a:t>
            </a:r>
            <a:r>
              <a:rPr dirty="0"/>
              <a:t> </a:t>
            </a:r>
            <a:r>
              <a:rPr dirty="0" err="1"/>
              <a:t>розничного</a:t>
            </a:r>
            <a:r>
              <a:rPr dirty="0"/>
              <a:t> </a:t>
            </a:r>
            <a:r>
              <a:rPr dirty="0" err="1"/>
              <a:t>бизнеса</a:t>
            </a:r>
            <a:r>
              <a:rPr dirty="0"/>
              <a:t> (РФ).</a:t>
            </a:r>
          </a:p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rPr sz="1200" dirty="0"/>
              <a:t>[КЛЮЧЕВЫЕ ПРОБЛЕМЫ]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десятками</a:t>
            </a:r>
            <a:r>
              <a:rPr dirty="0"/>
              <a:t> </a:t>
            </a:r>
            <a:r>
              <a:rPr dirty="0" err="1"/>
              <a:t>товарных</a:t>
            </a:r>
            <a:r>
              <a:rPr dirty="0"/>
              <a:t> </a:t>
            </a:r>
            <a:r>
              <a:rPr dirty="0" err="1"/>
              <a:t>категорий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аналитическим</a:t>
            </a:r>
            <a:r>
              <a:rPr dirty="0"/>
              <a:t> </a:t>
            </a:r>
            <a:r>
              <a:rPr dirty="0" err="1"/>
              <a:t>данным</a:t>
            </a:r>
            <a:r>
              <a:rPr dirty="0"/>
              <a:t> и </a:t>
            </a:r>
            <a:r>
              <a:rPr dirty="0" err="1"/>
              <a:t>остаткам</a:t>
            </a:r>
            <a:r>
              <a:rPr dirty="0"/>
              <a:t> </a:t>
            </a:r>
            <a:r>
              <a:rPr dirty="0" err="1"/>
              <a:t>вне</a:t>
            </a:r>
            <a:r>
              <a:rPr dirty="0"/>
              <a:t> </a:t>
            </a:r>
            <a:r>
              <a:rPr dirty="0" err="1"/>
              <a:t>офиса</a:t>
            </a:r>
            <a:r>
              <a:rPr dirty="0"/>
              <a:t> (</a:t>
            </a:r>
            <a:r>
              <a:rPr dirty="0" err="1"/>
              <a:t>нет</a:t>
            </a:r>
            <a:r>
              <a:rPr dirty="0"/>
              <a:t> ПК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рукой</a:t>
            </a:r>
            <a:r>
              <a:rPr dirty="0"/>
              <a:t>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645920"/>
            <a:ext cx="512064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2512" y="2011680"/>
            <a:ext cx="5120640" cy="256032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19672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02552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85432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9752" y="1645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excel_vicious_circle.log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194560"/>
            <a:ext cx="4572000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BBF24"/>
                </a:solidFill>
                <a:latin typeface="Consolas"/>
              </a:defRPr>
            </a:pPr>
            <a:r>
              <a:rPr sz="1200" dirty="0"/>
              <a:t>[ПОРОЧНЫЙ КРУГ EXCEL]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сбор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: </a:t>
            </a:r>
            <a:r>
              <a:rPr dirty="0" err="1"/>
              <a:t>Уходит</a:t>
            </a:r>
            <a:r>
              <a:rPr dirty="0"/>
              <a:t> 2+ </a:t>
            </a:r>
            <a:r>
              <a:rPr dirty="0" err="1"/>
              <a:t>часа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расчет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категории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Дефицит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излишки</a:t>
            </a:r>
            <a:r>
              <a:rPr dirty="0"/>
              <a:t>: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планирования</a:t>
            </a:r>
            <a:r>
              <a:rPr dirty="0"/>
              <a:t> </a:t>
            </a:r>
            <a:r>
              <a:rPr dirty="0" err="1"/>
              <a:t>ведут</a:t>
            </a:r>
            <a:r>
              <a:rPr dirty="0"/>
              <a:t> к </a:t>
            </a:r>
            <a:r>
              <a:rPr dirty="0" err="1"/>
              <a:t>пустым</a:t>
            </a:r>
            <a:r>
              <a:rPr dirty="0"/>
              <a:t> </a:t>
            </a:r>
            <a:r>
              <a:rPr dirty="0" err="1"/>
              <a:t>полкам</a:t>
            </a:r>
            <a:r>
              <a:rPr dirty="0"/>
              <a:t> </a:t>
            </a:r>
            <a:r>
              <a:rPr dirty="0" err="1"/>
              <a:t>либо</a:t>
            </a:r>
            <a:r>
              <a:rPr dirty="0"/>
              <a:t> </a:t>
            </a:r>
            <a:r>
              <a:rPr dirty="0" err="1"/>
              <a:t>заморозке</a:t>
            </a:r>
            <a:r>
              <a:rPr dirty="0"/>
              <a:t> </a:t>
            </a:r>
            <a:r>
              <a:rPr dirty="0" err="1"/>
              <a:t>капитала</a:t>
            </a:r>
            <a:r>
              <a:rPr dirty="0"/>
              <a:t> в </a:t>
            </a:r>
            <a:r>
              <a:rPr dirty="0" err="1"/>
              <a:t>остатках</a:t>
            </a:r>
            <a:r>
              <a:rPr dirty="0"/>
              <a:t> </a:t>
            </a:r>
            <a:r>
              <a:rPr dirty="0" err="1"/>
              <a:t>склада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/>
              <a:t>3. </a:t>
            </a:r>
            <a:r>
              <a:rPr dirty="0" err="1"/>
              <a:t>Устаревшие</a:t>
            </a:r>
            <a:r>
              <a:rPr dirty="0"/>
              <a:t> </a:t>
            </a:r>
            <a:r>
              <a:rPr dirty="0" err="1"/>
              <a:t>методы</a:t>
            </a:r>
            <a:r>
              <a:rPr dirty="0"/>
              <a:t>: </a:t>
            </a:r>
            <a:r>
              <a:rPr dirty="0" err="1"/>
              <a:t>Формулы</a:t>
            </a:r>
            <a:r>
              <a:rPr dirty="0"/>
              <a:t> и </a:t>
            </a:r>
            <a:r>
              <a:rPr dirty="0" err="1"/>
              <a:t>средние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учитывают</a:t>
            </a:r>
            <a:r>
              <a:rPr dirty="0"/>
              <a:t> </a:t>
            </a:r>
            <a:r>
              <a:rPr dirty="0" err="1"/>
              <a:t>сезонность</a:t>
            </a:r>
            <a:r>
              <a:rPr dirty="0"/>
              <a:t> и </a:t>
            </a:r>
            <a:r>
              <a:rPr dirty="0" err="1"/>
              <a:t>тренды</a:t>
            </a:r>
            <a:r>
              <a:rPr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54880"/>
            <a:ext cx="108173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5120640"/>
            <a:ext cx="10817352" cy="10058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" y="486460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486460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88720" y="486460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4754880"/>
            <a:ext cx="99029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asymmetry_analysis.sh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2290384" cy="397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rPr dirty="0"/>
              <a:t>$ run --eval-error-asymmetry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rPr dirty="0"/>
              <a:t>ВЫВОД:</a:t>
            </a:r>
            <a:endParaRPr sz="1100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10BDA5-43F2-4617-9F2A-BF0A7FFA68CF}"/>
              </a:ext>
            </a:extLst>
          </p:cNvPr>
          <p:cNvSpPr txBox="1"/>
          <p:nvPr/>
        </p:nvSpPr>
        <p:spPr>
          <a:xfrm>
            <a:off x="1604668" y="5436994"/>
            <a:ext cx="9898484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lang="ru-RU" sz="1100" dirty="0">
                <a:solidFill>
                  <a:srgbClr val="F8FAFC"/>
                </a:solidFill>
                <a:latin typeface="Segoe UI"/>
              </a:rPr>
              <a:t>Цена ошибки асимметрична — дефицит (упущенная прибыль и уход клиентов) обходится розничному бизнесу значительно дороже, чем излишек (замороженный капитал). Текущие инструменты заставляют менеджера тратить драгоценное время на ручную механику, а не на качественную аналитику.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./check_competitors.sh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Существующие решения: Мощные, но недоступные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Forecast NOW! (Прямой)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907792" cy="15747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rPr sz="1200" dirty="0"/>
              <a:t>[КЛЮЧЕВАЯ СИЛА]</a:t>
            </a:r>
          </a:p>
          <a:p>
            <a:pPr>
              <a:spcAft>
                <a:spcPts val="20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Вероятностные</a:t>
            </a:r>
            <a:r>
              <a:rPr dirty="0"/>
              <a:t> ML-</a:t>
            </a:r>
            <a:r>
              <a:rPr dirty="0" err="1"/>
              <a:t>модели</a:t>
            </a:r>
            <a:r>
              <a:rPr dirty="0"/>
              <a:t>, </a:t>
            </a: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точность</a:t>
            </a:r>
            <a:endParaRPr dirty="0"/>
          </a:p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Consolas"/>
              </a:defRPr>
            </a:pPr>
            <a:r>
              <a:rPr sz="1200" dirty="0"/>
              <a:t>[КЛЮЧЕВЫЕ БАРЬЕРЫ]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Внедрение</a:t>
            </a:r>
            <a:r>
              <a:rPr dirty="0"/>
              <a:t>: </a:t>
            </a:r>
            <a:r>
              <a:rPr dirty="0" err="1"/>
              <a:t>от</a:t>
            </a:r>
            <a:r>
              <a:rPr dirty="0"/>
              <a:t> 3 </a:t>
            </a:r>
            <a:r>
              <a:rPr dirty="0" err="1"/>
              <a:t>до</a:t>
            </a:r>
            <a:r>
              <a:rPr dirty="0"/>
              <a:t> 6 </a:t>
            </a:r>
            <a:r>
              <a:rPr dirty="0" err="1"/>
              <a:t>месяцев</a:t>
            </a:r>
            <a:br>
              <a:rPr dirty="0"/>
            </a:br>
            <a:r>
              <a:rPr dirty="0"/>
              <a:t>• </a:t>
            </a:r>
            <a:r>
              <a:rPr dirty="0" err="1"/>
              <a:t>Цена</a:t>
            </a:r>
            <a:r>
              <a:rPr dirty="0"/>
              <a:t>: </a:t>
            </a:r>
            <a:r>
              <a:rPr dirty="0" err="1"/>
              <a:t>от</a:t>
            </a:r>
            <a:r>
              <a:rPr dirty="0"/>
              <a:t> 130 000 </a:t>
            </a:r>
            <a:r>
              <a:rPr dirty="0" err="1"/>
              <a:t>руб</a:t>
            </a:r>
            <a:r>
              <a:rPr dirty="0"/>
              <a:t>/</a:t>
            </a:r>
            <a:r>
              <a:rPr dirty="0" err="1"/>
              <a:t>мес</a:t>
            </a:r>
            <a:br>
              <a:rPr dirty="0"/>
            </a:br>
            <a:r>
              <a:rPr dirty="0"/>
              <a:t>• </a:t>
            </a:r>
            <a:r>
              <a:rPr dirty="0" err="1"/>
              <a:t>Интерфейс</a:t>
            </a:r>
            <a:r>
              <a:rPr dirty="0"/>
              <a:t>: </a:t>
            </a:r>
            <a:r>
              <a:rPr dirty="0" err="1"/>
              <a:t>Тяжелый</a:t>
            </a:r>
            <a:r>
              <a:rPr dirty="0"/>
              <a:t> и </a:t>
            </a:r>
            <a:r>
              <a:rPr dirty="0" err="1"/>
              <a:t>перегруженный</a:t>
            </a:r>
            <a:r>
              <a:rPr dirty="0"/>
              <a:t>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3712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36592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19472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GoodsForecast (Enterprise)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194560"/>
            <a:ext cx="2907792" cy="17286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rPr sz="1200" dirty="0"/>
              <a:t>[КЛЮЧЕВАЯ СИЛА]</a:t>
            </a:r>
          </a:p>
          <a:p>
            <a:pPr>
              <a:spcAft>
                <a:spcPts val="20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Интегрированное</a:t>
            </a:r>
            <a:r>
              <a:rPr dirty="0"/>
              <a:t> </a:t>
            </a:r>
            <a:r>
              <a:rPr dirty="0" err="1"/>
              <a:t>планирование</a:t>
            </a:r>
            <a:r>
              <a:rPr dirty="0"/>
              <a:t>, ML-</a:t>
            </a:r>
            <a:r>
              <a:rPr dirty="0" err="1"/>
              <a:t>точность</a:t>
            </a:r>
            <a:endParaRPr dirty="0"/>
          </a:p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Consolas"/>
              </a:defRPr>
            </a:pPr>
            <a:r>
              <a:rPr sz="1200" dirty="0"/>
              <a:t>[КЛЮЧЕВЫЕ БАРЬЕРЫ]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Внедрение</a:t>
            </a:r>
            <a:r>
              <a:rPr dirty="0"/>
              <a:t>: </a:t>
            </a:r>
            <a:r>
              <a:rPr dirty="0" err="1"/>
              <a:t>до</a:t>
            </a:r>
            <a:r>
              <a:rPr dirty="0"/>
              <a:t> 8 </a:t>
            </a:r>
            <a:r>
              <a:rPr dirty="0" err="1"/>
              <a:t>месяцев</a:t>
            </a:r>
            <a:br>
              <a:rPr dirty="0"/>
            </a:br>
            <a:r>
              <a:rPr dirty="0"/>
              <a:t>• </a:t>
            </a:r>
            <a:r>
              <a:rPr dirty="0" err="1"/>
              <a:t>Цена</a:t>
            </a:r>
            <a:r>
              <a:rPr dirty="0"/>
              <a:t>: </a:t>
            </a:r>
            <a:r>
              <a:rPr dirty="0" err="1"/>
              <a:t>Стоимость</a:t>
            </a:r>
            <a:r>
              <a:rPr dirty="0"/>
              <a:t> в </a:t>
            </a:r>
            <a:r>
              <a:rPr dirty="0" err="1"/>
              <a:t>миллионы</a:t>
            </a:r>
            <a:r>
              <a:rPr dirty="0"/>
              <a:t> </a:t>
            </a:r>
            <a:r>
              <a:rPr dirty="0" err="1"/>
              <a:t>рублей</a:t>
            </a:r>
            <a:br>
              <a:rPr dirty="0"/>
            </a:br>
            <a:r>
              <a:rPr dirty="0"/>
              <a:t>• </a:t>
            </a:r>
            <a:r>
              <a:rPr dirty="0" err="1"/>
              <a:t>Ограничение</a:t>
            </a:r>
            <a:r>
              <a:rPr dirty="0"/>
              <a:t>: </a:t>
            </a:r>
            <a:r>
              <a:rPr dirty="0" err="1"/>
              <a:t>Недоступно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малого</a:t>
            </a:r>
            <a:r>
              <a:rPr dirty="0"/>
              <a:t> </a:t>
            </a:r>
            <a:r>
              <a:rPr dirty="0" err="1"/>
              <a:t>ритейла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147304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84464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67344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50224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24544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MinMaxPro (Косвенный)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194560"/>
            <a:ext cx="2907792" cy="17286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BBF24"/>
                </a:solidFill>
                <a:latin typeface="Consolas"/>
              </a:defRPr>
            </a:pPr>
            <a:r>
              <a:rPr sz="1200" dirty="0"/>
              <a:t>[КЛЮЧЕВАЯ СИЛА]</a:t>
            </a:r>
          </a:p>
          <a:p>
            <a:pPr>
              <a:spcAft>
                <a:spcPts val="20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Аналитический</a:t>
            </a:r>
            <a:r>
              <a:rPr dirty="0"/>
              <a:t> </a:t>
            </a:r>
            <a:r>
              <a:rPr dirty="0" err="1"/>
              <a:t>плагин</a:t>
            </a:r>
            <a:r>
              <a:rPr dirty="0"/>
              <a:t>, ABC-</a:t>
            </a:r>
            <a:r>
              <a:rPr dirty="0" err="1"/>
              <a:t>анализ</a:t>
            </a:r>
            <a:endParaRPr dirty="0"/>
          </a:p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Consolas"/>
              </a:defRPr>
            </a:pPr>
            <a:r>
              <a:rPr sz="1200" dirty="0"/>
              <a:t>[КЛЮЧЕВЫЕ БАРЬЕРЫ]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Внедрение</a:t>
            </a:r>
            <a:r>
              <a:rPr dirty="0"/>
              <a:t>: </a:t>
            </a:r>
            <a:r>
              <a:rPr dirty="0" err="1"/>
              <a:t>Готовое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часы</a:t>
            </a:r>
            <a:r>
              <a:rPr dirty="0"/>
              <a:t>/</a:t>
            </a:r>
            <a:r>
              <a:rPr dirty="0" err="1"/>
              <a:t>дни</a:t>
            </a:r>
            <a:br>
              <a:rPr dirty="0"/>
            </a:br>
            <a:r>
              <a:rPr dirty="0"/>
              <a:t>• </a:t>
            </a:r>
            <a:r>
              <a:rPr dirty="0" err="1"/>
              <a:t>Ограничение</a:t>
            </a:r>
            <a:r>
              <a:rPr dirty="0"/>
              <a:t>: </a:t>
            </a:r>
            <a:r>
              <a:rPr dirty="0" err="1"/>
              <a:t>Плагин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1С (</a:t>
            </a:r>
            <a:r>
              <a:rPr dirty="0" err="1"/>
              <a:t>привязан</a:t>
            </a:r>
            <a:r>
              <a:rPr dirty="0"/>
              <a:t> к </a:t>
            </a:r>
            <a:r>
              <a:rPr dirty="0" err="1"/>
              <a:t>десктопу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Модель</a:t>
            </a:r>
            <a:r>
              <a:rPr dirty="0"/>
              <a:t>: </a:t>
            </a:r>
            <a:r>
              <a:rPr dirty="0" err="1"/>
              <a:t>Простой</a:t>
            </a:r>
            <a:r>
              <a:rPr dirty="0"/>
              <a:t> </a:t>
            </a:r>
            <a:r>
              <a:rPr dirty="0" err="1"/>
              <a:t>мин-макс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сложного</a:t>
            </a:r>
            <a:r>
              <a:rPr dirty="0"/>
              <a:t>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cat market_positioning.csv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Поиск «Голубого океана»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1081735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99029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positioning_matrix.csv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03120"/>
            <a:ext cx="100858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$ cat market_positioning.csv | column -t -s';'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397535"/>
              </p:ext>
            </p:extLst>
          </p:nvPr>
        </p:nvGraphicFramePr>
        <p:xfrm>
          <a:off x="1051560" y="2560320"/>
          <a:ext cx="100766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F8FAFC"/>
                          </a:solidFill>
                          <a:latin typeface="Consolas"/>
                        </a:rPr>
                        <a:t>Параметр</a:t>
                      </a:r>
                      <a:endParaRPr sz="1400" b="1" dirty="0">
                        <a:solidFill>
                          <a:srgbClr val="F8FAFC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8FAFC"/>
                          </a:solidFill>
                          <a:latin typeface="Consolas"/>
                        </a:rPr>
                        <a:t>ForecastNOW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8FAFC"/>
                          </a:solidFill>
                          <a:latin typeface="Consolas"/>
                        </a:rPr>
                        <a:t>GoodsForecast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8FAFC"/>
                          </a:solidFill>
                          <a:latin typeface="Consolas"/>
                        </a:rPr>
                        <a:t>MinMaxPro</a:t>
                      </a:r>
                      <a:endParaRPr sz="1400" b="1" dirty="0">
                        <a:solidFill>
                          <a:srgbClr val="F8FAFC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34D399"/>
                          </a:solidFill>
                          <a:latin typeface="Consolas"/>
                        </a:rPr>
                        <a:t>Наш_Бот</a:t>
                      </a:r>
                      <a:endParaRPr sz="1400" b="1" dirty="0">
                        <a:solidFill>
                          <a:srgbClr val="34D399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F8FAFC"/>
                          </a:solidFill>
                          <a:latin typeface="Consolas"/>
                        </a:rPr>
                        <a:t>Точность</a:t>
                      </a:r>
                      <a:endParaRPr sz="1050" b="0" dirty="0">
                        <a:solidFill>
                          <a:srgbClr val="F8FAFC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F8FAFC"/>
                          </a:solidFill>
                          <a:latin typeface="Consolas"/>
                        </a:rPr>
                        <a:t>Высокая</a:t>
                      </a:r>
                      <a:endParaRPr sz="1050" b="0" dirty="0">
                        <a:solidFill>
                          <a:srgbClr val="F8FAFC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Высокая</a:t>
                      </a:r>
                    </a:p>
                  </a:txBody>
                  <a:tcPr anchor="ctr"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Средняя</a:t>
                      </a:r>
                    </a:p>
                  </a:txBody>
                  <a:tcPr anchor="ctr"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4D399"/>
                          </a:solidFill>
                          <a:latin typeface="Consolas"/>
                        </a:rPr>
                        <a:t>Высокая(ML)</a:t>
                      </a:r>
                    </a:p>
                  </a:txBody>
                  <a:tcPr anchor="ctr">
                    <a:solidFill>
                      <a:srgbClr val="102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F8FAFC"/>
                          </a:solidFill>
                          <a:latin typeface="Consolas"/>
                        </a:rPr>
                        <a:t>Внедрение</a:t>
                      </a:r>
                      <a:endParaRPr sz="1050" b="0" dirty="0">
                        <a:solidFill>
                          <a:srgbClr val="F8FAFC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F8FAFC"/>
                          </a:solidFill>
                          <a:latin typeface="Consolas"/>
                        </a:rPr>
                        <a:t>Месяцы</a:t>
                      </a:r>
                      <a:endParaRPr sz="1050" b="0" dirty="0">
                        <a:solidFill>
                          <a:srgbClr val="F8FAFC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Месяцы</a:t>
                      </a:r>
                    </a:p>
                  </a:txBody>
                  <a:tcPr anchor="ctr"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Дни</a:t>
                      </a:r>
                    </a:p>
                  </a:txBody>
                  <a:tcPr anchor="ctr"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4D399"/>
                          </a:solidFill>
                          <a:latin typeface="Consolas"/>
                        </a:rPr>
                        <a:t>&lt;1_недели</a:t>
                      </a:r>
                    </a:p>
                  </a:txBody>
                  <a:tcPr anchor="ctr">
                    <a:solidFill>
                      <a:srgbClr val="102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Цена входа</a:t>
                      </a:r>
                    </a:p>
                  </a:txBody>
                  <a:tcPr anchor="ctr"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Высокая</a:t>
                      </a:r>
                    </a:p>
                  </a:txBody>
                  <a:tcPr anchor="ctr"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Космос</a:t>
                      </a:r>
                    </a:p>
                  </a:txBody>
                  <a:tcPr anchor="ctr"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Низкая</a:t>
                      </a:r>
                    </a:p>
                  </a:txBody>
                  <a:tcPr anchor="ctr"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4D399"/>
                          </a:solidFill>
                          <a:latin typeface="Consolas"/>
                        </a:rPr>
                        <a:t>Низкая</a:t>
                      </a:r>
                    </a:p>
                  </a:txBody>
                  <a:tcPr anchor="ctr">
                    <a:solidFill>
                      <a:srgbClr val="102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8FAFC"/>
                          </a:solidFill>
                          <a:latin typeface="Consolas"/>
                        </a:rPr>
                        <a:t>Мобильность</a:t>
                      </a:r>
                    </a:p>
                  </a:txBody>
                  <a:tcPr anchor="ctr"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F4444"/>
                          </a:solidFill>
                          <a:latin typeface="Consolas"/>
                        </a:rPr>
                        <a:t>✗ Нет</a:t>
                      </a:r>
                    </a:p>
                  </a:txBody>
                  <a:tcPr anchor="ctr"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F4444"/>
                          </a:solidFill>
                          <a:latin typeface="Consolas"/>
                        </a:rPr>
                        <a:t>✗ Нет</a:t>
                      </a:r>
                    </a:p>
                  </a:txBody>
                  <a:tcPr anchor="ctr"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F4444"/>
                          </a:solidFill>
                          <a:latin typeface="Consolas"/>
                        </a:rPr>
                        <a:t>✗ Нет</a:t>
                      </a:r>
                    </a:p>
                  </a:txBody>
                  <a:tcPr anchor="ctr"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34D399"/>
                          </a:solidFill>
                          <a:latin typeface="Consolas"/>
                        </a:rPr>
                        <a:t>✓ </a:t>
                      </a:r>
                      <a:r>
                        <a:rPr sz="1050" b="0" dirty="0" err="1">
                          <a:solidFill>
                            <a:srgbClr val="34D399"/>
                          </a:solidFill>
                          <a:latin typeface="Consolas"/>
                        </a:rPr>
                        <a:t>Да</a:t>
                      </a:r>
                      <a:r>
                        <a:rPr sz="1050" b="0" dirty="0">
                          <a:solidFill>
                            <a:srgbClr val="34D399"/>
                          </a:solidFill>
                          <a:latin typeface="Consolas"/>
                        </a:rPr>
                        <a:t> (Telegram)</a:t>
                      </a:r>
                    </a:p>
                  </a:txBody>
                  <a:tcPr anchor="ctr">
                    <a:solidFill>
                      <a:srgbClr val="102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cat architecture_overview.json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Сложная</a:t>
            </a:r>
            <a:r>
              <a:rPr dirty="0"/>
              <a:t> </a:t>
            </a:r>
            <a:r>
              <a:rPr dirty="0" err="1"/>
              <a:t>математика</a:t>
            </a:r>
            <a:r>
              <a:rPr dirty="0"/>
              <a:t>. </a:t>
            </a:r>
            <a:r>
              <a:rPr dirty="0" err="1"/>
              <a:t>Простой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120640" cy="256032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ui_surface.json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572000" cy="13029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rPr sz="1200" dirty="0"/>
              <a:t>[НА ПОВЕРХНОСТИ: MVP UI]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Привычный</a:t>
            </a:r>
            <a:r>
              <a:rPr dirty="0"/>
              <a:t> </a:t>
            </a:r>
            <a:r>
              <a:rPr dirty="0" err="1"/>
              <a:t>мессенджер</a:t>
            </a:r>
            <a:r>
              <a:rPr dirty="0"/>
              <a:t> Telegram: </a:t>
            </a:r>
            <a:r>
              <a:rPr dirty="0" err="1"/>
              <a:t>Никаких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dirty="0"/>
              <a:t>, VPN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сложного</a:t>
            </a:r>
            <a:r>
              <a:rPr dirty="0"/>
              <a:t> </a:t>
            </a:r>
            <a:r>
              <a:rPr dirty="0" err="1"/>
              <a:t>дашборда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Линейный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: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магазина</a:t>
            </a:r>
            <a:r>
              <a:rPr dirty="0"/>
              <a:t> → </a:t>
            </a:r>
            <a:r>
              <a:rPr dirty="0" err="1"/>
              <a:t>Ввод</a:t>
            </a:r>
            <a:r>
              <a:rPr dirty="0"/>
              <a:t> </a:t>
            </a:r>
            <a:r>
              <a:rPr dirty="0" err="1"/>
              <a:t>текущих</a:t>
            </a:r>
            <a:r>
              <a:rPr dirty="0"/>
              <a:t> </a:t>
            </a:r>
            <a:r>
              <a:rPr dirty="0" err="1"/>
              <a:t>остатков</a:t>
            </a:r>
            <a:r>
              <a:rPr dirty="0"/>
              <a:t> → </a:t>
            </a: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Скорость</a:t>
            </a:r>
            <a:r>
              <a:rPr dirty="0"/>
              <a:t>: </a:t>
            </a:r>
            <a:r>
              <a:rPr dirty="0" err="1"/>
              <a:t>Категорийный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рекомендацию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пару</a:t>
            </a:r>
            <a:r>
              <a:rPr dirty="0"/>
              <a:t> </a:t>
            </a:r>
            <a:r>
              <a:rPr dirty="0" err="1"/>
              <a:t>кликов</a:t>
            </a:r>
            <a:r>
              <a:rPr dirty="0"/>
              <a:t> </a:t>
            </a:r>
            <a:r>
              <a:rPr dirty="0" err="1"/>
              <a:t>прямо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склада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645920"/>
            <a:ext cx="512064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2512" y="2011680"/>
            <a:ext cx="5120640" cy="256032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19672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02552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85432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9752" y="1645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ml_engine.json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194560"/>
            <a:ext cx="4572000" cy="1133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Consolas"/>
              </a:defRPr>
            </a:pPr>
            <a:r>
              <a:rPr sz="1200" dirty="0"/>
              <a:t>[ПОД КАПОТОМ: ML ENGINE]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Градиентный</a:t>
            </a:r>
            <a:r>
              <a:rPr dirty="0"/>
              <a:t> </a:t>
            </a:r>
            <a:r>
              <a:rPr dirty="0" err="1"/>
              <a:t>бустинг</a:t>
            </a:r>
            <a:r>
              <a:rPr dirty="0"/>
              <a:t> (</a:t>
            </a:r>
            <a:r>
              <a:rPr dirty="0" err="1"/>
              <a:t>CatBoost</a:t>
            </a:r>
            <a:r>
              <a:rPr dirty="0"/>
              <a:t> / </a:t>
            </a:r>
            <a:r>
              <a:rPr dirty="0" err="1"/>
              <a:t>LightGBM</a:t>
            </a:r>
            <a:r>
              <a:rPr dirty="0"/>
              <a:t>): </a:t>
            </a:r>
            <a:r>
              <a:rPr dirty="0" err="1"/>
              <a:t>Прогнозирование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исторических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продаж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Квантильная</a:t>
            </a:r>
            <a:r>
              <a:rPr dirty="0"/>
              <a:t> </a:t>
            </a:r>
            <a:r>
              <a:rPr dirty="0" err="1"/>
              <a:t>регрессия</a:t>
            </a:r>
            <a:r>
              <a:rPr dirty="0"/>
              <a:t> (tau = 0.75): </a:t>
            </a:r>
            <a:r>
              <a:rPr dirty="0" err="1"/>
              <a:t>Оптимизация</a:t>
            </a:r>
            <a:r>
              <a:rPr dirty="0"/>
              <a:t> </a:t>
            </a:r>
            <a:r>
              <a:rPr dirty="0" err="1"/>
              <a:t>метрики</a:t>
            </a:r>
            <a:r>
              <a:rPr dirty="0"/>
              <a:t> Pinball Loss.</a:t>
            </a:r>
            <a:br>
              <a:rPr dirty="0"/>
            </a:br>
            <a:r>
              <a:rPr dirty="0"/>
              <a:t>• </a:t>
            </a:r>
            <a:r>
              <a:rPr dirty="0" err="1"/>
              <a:t>Парсинг</a:t>
            </a:r>
            <a:r>
              <a:rPr dirty="0"/>
              <a:t>: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трендов</a:t>
            </a:r>
            <a:r>
              <a:rPr dirty="0"/>
              <a:t>, </a:t>
            </a:r>
            <a:r>
              <a:rPr dirty="0" err="1"/>
              <a:t>сезонности</a:t>
            </a:r>
            <a:r>
              <a:rPr dirty="0"/>
              <a:t>, </a:t>
            </a:r>
            <a:r>
              <a:rPr dirty="0" err="1"/>
              <a:t>промо</a:t>
            </a:r>
            <a:r>
              <a:rPr dirty="0"/>
              <a:t> и </a:t>
            </a:r>
            <a:r>
              <a:rPr dirty="0" err="1"/>
              <a:t>праздников</a:t>
            </a:r>
            <a:r>
              <a:rPr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54880"/>
            <a:ext cx="108173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5120640"/>
            <a:ext cx="10817352" cy="118872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" y="486460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486460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88720" y="486460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4754880"/>
            <a:ext cx="99029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architecture_schema.txt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66360"/>
            <a:ext cx="3068148" cy="8720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dirty="0">
                <a:solidFill>
                  <a:srgbClr val="22D3EE"/>
                </a:solidFill>
                <a:latin typeface="Consolas"/>
              </a:rPr>
              <a:t>+-----------------+     +-----------------+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2D3EE"/>
                </a:solidFill>
                <a:latin typeface="Consolas"/>
              </a:rPr>
              <a:t>|     MVP UI      |     |    ML ENGINE    |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2D3EE"/>
                </a:solidFill>
                <a:latin typeface="Consolas"/>
              </a:rPr>
              <a:t>|  Telegram Chat  |&lt;---&gt;|  </a:t>
            </a:r>
            <a:r>
              <a:rPr sz="1000" dirty="0" err="1">
                <a:solidFill>
                  <a:srgbClr val="22D3EE"/>
                </a:solidFill>
                <a:latin typeface="Consolas"/>
              </a:rPr>
              <a:t>CatBoost</a:t>
            </a:r>
            <a:r>
              <a:rPr sz="1000" dirty="0">
                <a:solidFill>
                  <a:srgbClr val="22D3EE"/>
                </a:solidFill>
                <a:latin typeface="Consolas"/>
              </a:rPr>
              <a:t> GBDT  |</a:t>
            </a:r>
          </a:p>
          <a:p>
            <a:pPr>
              <a:spcAft>
                <a:spcPts val="200"/>
              </a:spcAft>
            </a:pPr>
            <a:r>
              <a:rPr lang="ru-RU" sz="1000" dirty="0">
                <a:solidFill>
                  <a:srgbClr val="22D3EE"/>
                </a:solidFill>
                <a:latin typeface="Consolas"/>
              </a:rPr>
              <a:t>| </a:t>
            </a:r>
            <a:r>
              <a:rPr sz="1000" dirty="0">
                <a:solidFill>
                  <a:srgbClr val="22D3EE"/>
                </a:solidFill>
                <a:latin typeface="Consolas"/>
              </a:rPr>
              <a:t> /plan -&gt; 🟢🟡🔴| </a:t>
            </a:r>
            <a:r>
              <a:rPr lang="ru-RU" sz="1000" dirty="0">
                <a:solidFill>
                  <a:srgbClr val="22D3EE"/>
                </a:solidFill>
                <a:latin typeface="Consolas"/>
              </a:rPr>
              <a:t>   </a:t>
            </a:r>
            <a:r>
              <a:rPr sz="1000" dirty="0">
                <a:solidFill>
                  <a:srgbClr val="22D3EE"/>
                </a:solidFill>
                <a:latin typeface="Consolas"/>
              </a:rPr>
              <a:t>|  tau=0.75  </a:t>
            </a:r>
            <a:r>
              <a:rPr lang="ru-RU" sz="1000" dirty="0">
                <a:solidFill>
                  <a:srgbClr val="22D3EE"/>
                </a:solidFill>
                <a:latin typeface="Consolas"/>
              </a:rPr>
              <a:t> </a:t>
            </a:r>
            <a:r>
              <a:rPr sz="1000" dirty="0">
                <a:solidFill>
                  <a:srgbClr val="22D3EE"/>
                </a:solidFill>
                <a:latin typeface="Consolas"/>
              </a:rPr>
              <a:t> |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2D3EE"/>
                </a:solidFill>
                <a:latin typeface="Consolas"/>
              </a:rPr>
              <a:t>+-----------------+     +-----------------+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166360"/>
            <a:ext cx="5029200" cy="902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 dirty="0">
                <a:solidFill>
                  <a:srgbClr val="FBBF24"/>
                </a:solidFill>
                <a:latin typeface="Segoe UI"/>
              </a:rPr>
              <a:t>[ОБЩАЯ СХЕМА АРХИТЕКТУРЫ]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F8FAFC"/>
                </a:solidFill>
                <a:latin typeface="Segoe UI"/>
              </a:rPr>
              <a:t>• UI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принимает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и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валидирует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остатки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в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чате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.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Модель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прогнозирует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квантиль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спроса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(tau=0.75).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Результат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выдается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в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виде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светофорного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отчета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.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F8FAFC"/>
                </a:solidFill>
                <a:latin typeface="Segoe UI"/>
              </a:rPr>
              <a:t>•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Оптимизация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Pinball Loss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страхует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от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F8FAFC"/>
                </a:solidFill>
                <a:latin typeface="Segoe UI"/>
              </a:rPr>
              <a:t>дефицита</a:t>
            </a:r>
            <a:r>
              <a:rPr sz="1000" dirty="0">
                <a:solidFill>
                  <a:srgbClr val="F8FAF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./user_flow_simulation.sh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От запроса к готовому заказу за 4 шага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4864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486400" cy="411480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cat telegram_chat_mockup.txt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93776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t>$ check --show-chat-dialogue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[14:32] Менеджер: /plan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[14:32] Бот: Выберите магазин: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8FAFC"/>
                </a:solidFill>
                <a:latin typeface="Consolas"/>
              </a:rPr>
              <a:t>           [Магазин №1] [Магазин №2]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[14:33] Менеджер: Магазин №1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[14:33] Бот: Выберите категорию: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8FAFC"/>
                </a:solidFill>
                <a:latin typeface="Consolas"/>
              </a:rPr>
              <a:t>           [Молоко] [Хлеб] [Мясо]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[14:33] Менеджер: Молоко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[14:33] Бот: Введите текущие остатки цифрой: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[14:33] Менеджер: 42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F4444"/>
                </a:solidFill>
                <a:latin typeface="Consolas"/>
              </a:rPr>
              <a:t>[14:34] Бот: 🔴 Срочно дозаказать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8FAFC"/>
                </a:solidFill>
                <a:latin typeface="Consolas"/>
              </a:rPr>
              <a:t>           SKU: Молоко 3.2% 1л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F4444"/>
                </a:solidFill>
                <a:latin typeface="Consolas"/>
              </a:rPr>
              <a:t>           Рекомендация: +48 шт (дефицит!)</a:t>
            </a:r>
          </a:p>
        </p:txBody>
      </p:sp>
      <p:pic>
        <p:nvPicPr>
          <p:cNvPr id="11" name="Picture 10" descr="telegram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480560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cat value_props.txt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Почему мы победим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01_MOBILITY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90779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$ check --mobility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Полноценное управление закупками с телефона. Закупщик не привязан к рабочему столу, 1С-терминалу или офисной локальной сети.</a:t>
            </a:r>
            <a:br/>
            <a:br/>
            <a:r>
              <a:t>(0 из 3 конкурентов предлагают мобильный доступ).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3712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36592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19472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02_LAUNCH_SPEED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194560"/>
            <a:ext cx="290779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4D399"/>
                </a:solidFill>
                <a:latin typeface="Consolas"/>
              </a:defRPr>
            </a:pPr>
            <a:r>
              <a:t>$ check --launch-time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Сверхбыстрое внедрение пилота. Настройка индивидуальной ML-модели на исторических данных клиента и запуск за 1 неделю.</a:t>
            </a:r>
            <a:br/>
            <a:br/>
            <a:r>
              <a:t>(Аналогичные корпоративные платформы требуют от 3 до 6 месяцев интеграции).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7304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84464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67344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50224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24544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03_ZERO_CAPEX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194560"/>
            <a:ext cx="290779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BBF24"/>
                </a:solidFill>
                <a:latin typeface="Consolas"/>
              </a:defRPr>
            </a:pPr>
            <a:r>
              <a:t>$ check --setup-cost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Отсутствие капитальных затрат. Нет необходимости покупать выделенные серверы, базы данных или оплачивать дорогую интеграцию тяжелых ERP-систем.</a:t>
            </a:r>
            <a:br/>
            <a:br/>
            <a:r>
              <a:t>Запуск в облачном контейнере.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curl https://api.forecast/monetization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Простая монетизация: SaaS по подписке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120640" cy="411480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cat subscription_pricing.json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572000" cy="2292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rPr dirty="0" err="1"/>
              <a:t>Бизнес-модель</a:t>
            </a:r>
            <a:r>
              <a:rPr dirty="0"/>
              <a:t>: SaaS</a:t>
            </a:r>
          </a:p>
          <a:p>
            <a:pPr>
              <a:spcAft>
                <a:spcPts val="200"/>
              </a:spcAft>
              <a:defRPr sz="3000" b="1">
                <a:solidFill>
                  <a:srgbClr val="F8FAFC"/>
                </a:solidFill>
                <a:latin typeface="Consolas"/>
              </a:defRPr>
            </a:pPr>
            <a:r>
              <a:rPr dirty="0"/>
              <a:t>1 500 – 3 000 ₽ / </a:t>
            </a:r>
            <a:r>
              <a:rPr dirty="0" err="1"/>
              <a:t>мес</a:t>
            </a:r>
            <a:endParaRPr dirty="0"/>
          </a:p>
          <a:p>
            <a:pPr>
              <a:spcAft>
                <a:spcPts val="2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(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товарную</a:t>
            </a:r>
            <a:r>
              <a:rPr dirty="0"/>
              <a:t> </a:t>
            </a:r>
            <a:r>
              <a:rPr dirty="0" err="1"/>
              <a:t>категорию</a:t>
            </a:r>
            <a:r>
              <a:rPr dirty="0"/>
              <a:t> / </a:t>
            </a:r>
            <a:r>
              <a:rPr dirty="0" err="1"/>
              <a:t>магазин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100" b="1">
                <a:solidFill>
                  <a:srgbClr val="FBBF24"/>
                </a:solidFill>
                <a:latin typeface="Consolas"/>
              </a:defRPr>
            </a:pPr>
            <a:r>
              <a:rPr sz="1200" dirty="0"/>
              <a:t>[</a:t>
            </a:r>
            <a:r>
              <a:rPr sz="1200" dirty="0" err="1"/>
              <a:t>Сравнение</a:t>
            </a:r>
            <a:r>
              <a:rPr sz="1200" dirty="0"/>
              <a:t> </a:t>
            </a:r>
            <a:r>
              <a:rPr sz="1200" dirty="0" err="1"/>
              <a:t>ценового</a:t>
            </a:r>
            <a:r>
              <a:rPr sz="1200" dirty="0"/>
              <a:t> </a:t>
            </a:r>
            <a:r>
              <a:rPr sz="1200" dirty="0" err="1"/>
              <a:t>фона</a:t>
            </a:r>
            <a:r>
              <a:rPr sz="1200" dirty="0"/>
              <a:t>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 dirty="0" err="1"/>
              <a:t>GoodsForecast</a:t>
            </a:r>
            <a:r>
              <a:rPr b="1" dirty="0"/>
              <a:t>: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млн</a:t>
            </a:r>
            <a:r>
              <a:rPr dirty="0"/>
              <a:t> </a:t>
            </a:r>
            <a:r>
              <a:rPr dirty="0" err="1"/>
              <a:t>рублей</a:t>
            </a:r>
            <a:r>
              <a:rPr dirty="0"/>
              <a:t> (Enterprise)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 dirty="0"/>
              <a:t>Forecast NOW!: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130 000 ₽/</a:t>
            </a:r>
            <a:r>
              <a:rPr dirty="0" err="1"/>
              <a:t>мес</a:t>
            </a:r>
            <a:r>
              <a:rPr dirty="0"/>
              <a:t> (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среднего</a:t>
            </a:r>
            <a:r>
              <a:rPr dirty="0"/>
              <a:t> </a:t>
            </a:r>
            <a:r>
              <a:rPr dirty="0" err="1"/>
              <a:t>ритейла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rPr b="1" dirty="0" err="1"/>
              <a:t>MinMaxPro</a:t>
            </a:r>
            <a:r>
              <a:rPr b="1" dirty="0"/>
              <a:t>: </a:t>
            </a:r>
            <a:r>
              <a:rPr dirty="0" err="1"/>
              <a:t>от</a:t>
            </a:r>
            <a:r>
              <a:rPr dirty="0"/>
              <a:t> 3 900 </a:t>
            </a:r>
            <a:r>
              <a:rPr dirty="0" err="1"/>
              <a:t>до</a:t>
            </a:r>
            <a:r>
              <a:rPr dirty="0"/>
              <a:t> 11 900 ₽/</a:t>
            </a:r>
            <a:r>
              <a:rPr dirty="0" err="1"/>
              <a:t>мес</a:t>
            </a:r>
            <a:r>
              <a:rPr dirty="0"/>
              <a:t> (1С-плагин)</a:t>
            </a:r>
          </a:p>
          <a:p>
            <a:pPr>
              <a:spcAft>
                <a:spcPts val="400"/>
              </a:spcAft>
              <a:defRPr sz="1100" b="1">
                <a:solidFill>
                  <a:srgbClr val="34D399"/>
                </a:solidFill>
                <a:latin typeface="Segoe UI"/>
              </a:defRPr>
            </a:pPr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бот</a:t>
            </a:r>
            <a:r>
              <a:rPr dirty="0"/>
              <a:t> (</a:t>
            </a:r>
            <a:r>
              <a:rPr dirty="0" err="1"/>
              <a:t>Цель</a:t>
            </a:r>
            <a:r>
              <a:rPr dirty="0"/>
              <a:t>): 1 500 – 3 000 ₽/</a:t>
            </a:r>
            <a:r>
              <a:rPr dirty="0" err="1"/>
              <a:t>мес</a:t>
            </a:r>
            <a:r>
              <a:rPr dirty="0"/>
              <a:t> (</a:t>
            </a:r>
            <a:r>
              <a:rPr dirty="0" err="1"/>
              <a:t>малый</a:t>
            </a:r>
            <a:r>
              <a:rPr dirty="0"/>
              <a:t> </a:t>
            </a:r>
            <a:r>
              <a:rPr dirty="0" err="1"/>
              <a:t>ритейл</a:t>
            </a:r>
            <a:r>
              <a:rPr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645920"/>
            <a:ext cx="512064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2512" y="2011680"/>
            <a:ext cx="5120640" cy="411480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19672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02552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85432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9752" y="1645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python payback_chart.py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194560"/>
            <a:ext cx="45720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t>$ python payback_chart.py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8FAFC"/>
                </a:solidFill>
                <a:latin typeface="Consolas"/>
              </a:rPr>
              <a:t>Подписка: 2 000 ₽/мес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8FAFC"/>
                </a:solidFill>
                <a:latin typeface="Consolas"/>
              </a:rPr>
              <a:t>Экономия: 1.5 ч/день × 22 дня × 500 ₽/ч = 16 500 ₽/мес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34D399"/>
                </a:solidFill>
                <a:latin typeface="Consolas"/>
              </a:rPr>
              <a:t>ROI: 725%</a:t>
            </a:r>
          </a:p>
          <a:p>
            <a:pPr>
              <a:spcAft>
                <a:spcPts val="400"/>
              </a:spcAft>
            </a:pPr>
            <a:endParaRPr sz="1050" b="1">
              <a:solidFill>
                <a:srgbClr val="34D399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    16.5k ┤████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      2k  ┤────  ← точка безубыточности (1 неделя)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          └────────────────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F8FAFC"/>
                </a:solidFill>
                <a:latin typeface="Consolas"/>
              </a:rPr>
              <a:t>            Месяц 1   Месяц 2   Месяц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./run_benchmarks.sh --dashboard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Минимальные бенчмарки успеха (MVP 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ИНТЕЛЛЕКТ (ML)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90779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94A3B8"/>
                </a:solidFill>
                <a:latin typeface="Consolas"/>
              </a:defRPr>
            </a:pPr>
            <a:r>
              <a:t>$ test --model-quality</a:t>
            </a:r>
          </a:p>
          <a:p>
            <a:pPr>
              <a:spcAft>
                <a:spcPts val="1200"/>
              </a:spcAft>
              <a:defRPr sz="2800" b="1">
                <a:solidFill>
                  <a:srgbClr val="22D3EE"/>
                </a:solidFill>
                <a:latin typeface="Consolas"/>
              </a:defRPr>
            </a:pPr>
            <a:r>
              <a:t>WAPE &lt; 25%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Стандартная точность прогнозирования FMCG. Обеспечивает улучшение точности минимум на 10% относительно наивного прогноза.</a:t>
            </a:r>
            <a:br/>
            <a:br/>
            <a:r>
              <a:t>(Оптимизация Pinball Loss).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3712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36592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19472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РЕФЛЕКСЫ (ТЕХНИКА)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194560"/>
            <a:ext cx="290779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94A3B8"/>
                </a:solidFill>
                <a:latin typeface="Consolas"/>
              </a:defRPr>
            </a:pPr>
            <a:r>
              <a:rPr dirty="0"/>
              <a:t>$ test --response-time</a:t>
            </a:r>
          </a:p>
          <a:p>
            <a:pPr>
              <a:spcAft>
                <a:spcPts val="1200"/>
              </a:spcAft>
              <a:defRPr sz="2800" b="1">
                <a:solidFill>
                  <a:srgbClr val="34D399"/>
                </a:solidFill>
                <a:latin typeface="Consolas"/>
              </a:defRPr>
            </a:pPr>
            <a:r>
              <a:rPr dirty="0"/>
              <a:t>&lt; 5 СЕКУНД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ожидания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ML-</a:t>
            </a:r>
            <a:r>
              <a:rPr dirty="0" err="1"/>
              <a:t>сервера</a:t>
            </a:r>
            <a:r>
              <a:rPr dirty="0"/>
              <a:t> в </a:t>
            </a:r>
            <a:r>
              <a:rPr dirty="0" err="1"/>
              <a:t>чате</a:t>
            </a:r>
            <a:r>
              <a:rPr dirty="0"/>
              <a:t> Telegram.</a:t>
            </a:r>
            <a:br>
              <a:rPr dirty="0"/>
            </a:br>
            <a:br>
              <a:rPr dirty="0"/>
            </a:br>
            <a:r>
              <a:rPr dirty="0" err="1"/>
              <a:t>Общее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расчета</a:t>
            </a:r>
            <a:r>
              <a:rPr dirty="0"/>
              <a:t> (/plan)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готового</a:t>
            </a:r>
            <a:r>
              <a:rPr dirty="0"/>
              <a:t> </a:t>
            </a:r>
            <a:r>
              <a:rPr dirty="0" err="1"/>
              <a:t>прогноза</a:t>
            </a:r>
            <a:r>
              <a:rPr dirty="0"/>
              <a:t> </a:t>
            </a:r>
            <a:r>
              <a:rPr dirty="0" err="1"/>
              <a:t>составляет</a:t>
            </a:r>
            <a:r>
              <a:rPr dirty="0"/>
              <a:t> </a:t>
            </a:r>
            <a:r>
              <a:rPr dirty="0" err="1"/>
              <a:t>менее</a:t>
            </a:r>
            <a:r>
              <a:rPr dirty="0"/>
              <a:t> 1 </a:t>
            </a:r>
            <a:r>
              <a:rPr dirty="0" err="1"/>
              <a:t>минуты</a:t>
            </a:r>
            <a:r>
              <a:rPr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7304" y="1645920"/>
            <a:ext cx="336499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2011680"/>
            <a:ext cx="336499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84464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67344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50224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24544" y="164592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ЭРГОНОМИКА (UX)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194560"/>
            <a:ext cx="290779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94A3B8"/>
                </a:solidFill>
                <a:latin typeface="Consolas"/>
              </a:defRPr>
            </a:pPr>
            <a:r>
              <a:t>$ test --ux-friction</a:t>
            </a:r>
          </a:p>
          <a:p>
            <a:pPr>
              <a:spcAft>
                <a:spcPts val="1200"/>
              </a:spcAft>
              <a:defRPr sz="2800" b="1">
                <a:solidFill>
                  <a:srgbClr val="FBBF24"/>
                </a:solidFill>
                <a:latin typeface="Consolas"/>
              </a:defRPr>
            </a:pPr>
            <a:r>
              <a:t>≤ 4 ШАГА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Жесткое ограничение когнитивной нагрузки.</a:t>
            </a:r>
            <a:br/>
            <a:br/>
            <a:r>
              <a:t>Максимальное количество действий пользователя до получения рекомендации и светофорного отчета.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2D3EE"/>
                </a:solidFill>
                <a:latin typeface="Consolas"/>
              </a:defRPr>
            </a:pPr>
            <a:r>
              <a:t>user@ai-talent-hub:~$ ./start_trial --email manager@shop.ru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Революция в закупках начинается в Telegram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457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9445752" cy="3749040"/>
          </a:xfrm>
          <a:prstGeom prst="rect">
            <a:avLst/>
          </a:prstGeom>
          <a:solidFill>
            <a:srgbClr val="151B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175564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17556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74520" y="175564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1645920"/>
            <a:ext cx="8531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onsolas"/>
              </a:defRPr>
            </a:pPr>
            <a:r>
              <a:t>terminal - user@ai-talent-hub: ~/start_trial.sh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94560"/>
            <a:ext cx="8714232" cy="281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2D3EE"/>
                </a:solidFill>
                <a:latin typeface="Consolas"/>
              </a:defRPr>
            </a:pPr>
            <a:r>
              <a:rPr dirty="0" err="1"/>
              <a:t>user@ai-talent-hub</a:t>
            </a:r>
            <a:r>
              <a:rPr dirty="0"/>
              <a:t>:~$ ./</a:t>
            </a:r>
            <a:r>
              <a:rPr dirty="0" err="1"/>
              <a:t>start_trial</a:t>
            </a:r>
            <a:r>
              <a:rPr dirty="0"/>
              <a:t> --email manager@shop.ru</a:t>
            </a:r>
          </a:p>
          <a:p>
            <a:pPr>
              <a:spcAft>
                <a:spcPts val="15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rPr dirty="0"/>
              <a:t>[SUCCESS] Trial session initialized. Access granted for manager@shop.ru</a:t>
            </a:r>
          </a:p>
          <a:p>
            <a:pPr>
              <a:spcBef>
                <a:spcPts val="800"/>
              </a:spcBef>
              <a:defRPr sz="1400" b="1">
                <a:solidFill>
                  <a:srgbClr val="22D3EE"/>
                </a:solidFill>
                <a:latin typeface="Segoe UI"/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Сложная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задача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под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капотом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Мощное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ML-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прогнозирование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на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CatBoost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с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явным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учетом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асимметрии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закупки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(Pinball Loss, tau=0.75).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  <a:latin typeface="Segoe UI"/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Привычная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и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удобная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среда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Никакого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сложного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софта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Работа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ведется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в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мессенджере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с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простой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логикой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85000"/>
                  </a:schemeClr>
                </a:solidFill>
              </a:rPr>
              <a:t>светофора</a:t>
            </a:r>
            <a:r>
              <a:rPr sz="1100" dirty="0">
                <a:solidFill>
                  <a:schemeClr val="bg1">
                    <a:lumMod val="85000"/>
                  </a:schemeClr>
                </a:solidFill>
              </a:rPr>
              <a:t> (🟢/🟡/🔴).</a:t>
            </a:r>
          </a:p>
          <a:p>
            <a:pPr>
              <a:spcBef>
                <a:spcPts val="800"/>
              </a:spcBef>
              <a:defRPr sz="1400" b="1">
                <a:solidFill>
                  <a:srgbClr val="FBBF24"/>
                </a:solidFill>
                <a:latin typeface="Segoe UI"/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Доступно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любому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бизнесу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Облачное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 SaaS-</a:t>
            </a: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решение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за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символические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 1 500 – 3 000 </a:t>
            </a: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руб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/</a:t>
            </a: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мес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без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 Capex и </a:t>
            </a: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долгого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100" dirty="0" err="1">
                <a:solidFill>
                  <a:schemeClr val="bg1">
                    <a:lumMod val="95000"/>
                  </a:schemeClr>
                </a:solidFill>
              </a:rPr>
              <a:t>внедрения</a:t>
            </a:r>
            <a:r>
              <a:rPr sz="11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>
              <a:spcBef>
                <a:spcPts val="2000"/>
              </a:spcBef>
              <a:defRPr sz="1800" b="1">
                <a:solidFill>
                  <a:srgbClr val="34D399"/>
                </a:solidFill>
                <a:latin typeface="Segoe UI"/>
              </a:defRPr>
            </a:pPr>
            <a:r>
              <a:rPr dirty="0"/>
              <a:t>РЕЗУЛЬТАТ: </a:t>
            </a:r>
            <a:r>
              <a:rPr dirty="0" err="1"/>
              <a:t>Точный</a:t>
            </a:r>
            <a:r>
              <a:rPr dirty="0"/>
              <a:t> </a:t>
            </a:r>
            <a:r>
              <a:rPr dirty="0" err="1"/>
              <a:t>заказ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15 </a:t>
            </a:r>
            <a:r>
              <a:rPr dirty="0" err="1"/>
              <a:t>минут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2 </a:t>
            </a:r>
            <a:r>
              <a:rPr dirty="0" err="1"/>
              <a:t>часов</a:t>
            </a:r>
            <a:r>
              <a:rPr dirty="0"/>
              <a:t> </a:t>
            </a:r>
            <a:r>
              <a:rPr dirty="0" err="1"/>
              <a:t>рутины</a:t>
            </a:r>
            <a:r>
              <a:rPr dirty="0"/>
              <a:t> в Excel!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1370</Words>
  <Application>Microsoft Office PowerPoint</Application>
  <PresentationFormat>Широкоэкранный</PresentationFormat>
  <Paragraphs>161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Antonovsky Maks</cp:lastModifiedBy>
  <cp:revision>3</cp:revision>
  <dcterms:created xsi:type="dcterms:W3CDTF">2013-01-27T09:14:16Z</dcterms:created>
  <dcterms:modified xsi:type="dcterms:W3CDTF">2026-06-21T13:24:41Z</dcterms:modified>
  <cp:category/>
</cp:coreProperties>
</file>